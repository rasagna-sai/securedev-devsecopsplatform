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7" r:id="rId11"/>
    <p:sldId id="908" r:id="rId12"/>
    <p:sldId id="911" r:id="rId13"/>
    <p:sldId id="909" r:id="rId14"/>
    <p:sldId id="9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50" autoAdjust="0"/>
    <p:restoredTop sz="94660"/>
  </p:normalViewPr>
  <p:slideViewPr>
    <p:cSldViewPr snapToGrid="0">
      <p:cViewPr varScale="1">
        <p:scale>
          <a:sx n="89" d="100"/>
          <a:sy n="89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10/28/2026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10/28/2026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10/28/2026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10/28/2026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10/28/2026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10/28/2026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 – 09 - 26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218793"/>
              </p:ext>
            </p:extLst>
          </p:nvPr>
        </p:nvGraphicFramePr>
        <p:xfrm>
          <a:off x="8193271" y="4898509"/>
          <a:ext cx="370205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D. 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Rasagna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2420030177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Thanusree  - 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2420030442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G. Swaraja      - 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2420090085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4045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Dr.Patha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Srilatha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10/28/2026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465971"/>
            <a:ext cx="10915650" cy="140432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6" y="689236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 err="1"/>
              <a:t>SecureDev</a:t>
            </a:r>
            <a:r>
              <a:rPr lang="en-IN" sz="2800" b="1" dirty="0"/>
              <a:t>: A Cloud-Native Security Reasoning and Automated Remediation Platform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C1F5F2-ECD8-4C6D-ADBC-EC676B29AE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10/28/2026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FC632-229F-8E35-B0D6-A8C754EA906F}"/>
              </a:ext>
            </a:extLst>
          </p:cNvPr>
          <p:cNvSpPr txBox="1"/>
          <p:nvPr/>
        </p:nvSpPr>
        <p:spPr>
          <a:xfrm>
            <a:off x="895964" y="1400056"/>
            <a:ext cx="104000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applications span source-code repositories, CI/CD pipelines, container images, Kubernetes environments, and cloud services – each stage introduces its own opportunities for security failure.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risks include exposed API keys, vulnerable Docker configurations, excessive IAM permissions, and insecure deployment workflows.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security tools typically scan one layer at a time and operate in isolation, without correlating findings across the pipeline.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fragmentation allows multi-step, cross-layer attack paths to go undetected until insecure applications have already reached production.</a:t>
            </a:r>
          </a:p>
          <a:p>
            <a:pPr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7D035-1BEE-5256-9089-43B51DA00483}"/>
              </a:ext>
            </a:extLst>
          </p:cNvPr>
          <p:cNvSpPr txBox="1"/>
          <p:nvPr/>
        </p:nvSpPr>
        <p:spPr>
          <a:xfrm>
            <a:off x="838200" y="1575309"/>
            <a:ext cx="931114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Develop a centralized security evidence collection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Normalize heterogeneous security findings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Perform cross-layer security correlation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Generate attack paths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Prioritize security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Recommend remediation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Validate remediation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203436"/>
              </p:ext>
            </p:extLst>
          </p:nvPr>
        </p:nvGraphicFramePr>
        <p:xfrm>
          <a:off x="274646" y="689466"/>
          <a:ext cx="11642705" cy="48912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Authors/Source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Limitation/Gap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Ou et al.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Automated Attack-Graph Generation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Attack graphs represent possible attack paths through system vulnerabilities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Attack graphs can model multi-step attacks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Traditional approaches can become complex for large environments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Sheyner</a:t>
                      </a:r>
                      <a:r>
                        <a:rPr lang="en-IN" sz="1400" dirty="0"/>
                        <a:t> et al.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Automated Attack-Graph Analysis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Formal attack-graph generation and analysis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Demonstrates systematic attack-path analysis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 is primarily on attack </a:t>
                      </a:r>
                      <a:r>
                        <a:rPr lang="en-IN" sz="1400" dirty="0" err="1"/>
                        <a:t>modeling</a:t>
                      </a:r>
                      <a:r>
                        <a:rPr lang="en-IN" sz="1400" dirty="0"/>
                        <a:t> rather than modern cloud-native </a:t>
                      </a:r>
                      <a:r>
                        <a:rPr lang="en-IN" sz="1400" dirty="0" err="1"/>
                        <a:t>DevSecOps</a:t>
                      </a:r>
                      <a:r>
                        <a:rPr lang="en-IN" sz="1400" dirty="0"/>
                        <a:t> workflows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SecureDev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Cross-layer security reasoning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Scanner evidence + normalization + correlation + remediation + validation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Provides an integrated workflow from detection to validated remediation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Project implementation and evaluation are future work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2E2B-EEBE-417C-831B-9A36F38228DC}" type="datetime1">
              <a:rPr lang="en-US" smtClean="0"/>
              <a:t>10/28/2026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D2E67-B672-6919-C2B9-7A6133BA4B88}"/>
              </a:ext>
            </a:extLst>
          </p:cNvPr>
          <p:cNvSpPr txBox="1"/>
          <p:nvPr/>
        </p:nvSpPr>
        <p:spPr>
          <a:xfrm>
            <a:off x="757084" y="1217108"/>
            <a:ext cx="78535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Existing situation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Gitleaks → Secrets</a:t>
            </a:r>
          </a:p>
          <a:p>
            <a:pPr rtl="0">
              <a:buNone/>
            </a:pPr>
            <a:r>
              <a:rPr lang="en-IN" dirty="0" err="1">
                <a:latin typeface="+mn-lt"/>
              </a:rPr>
              <a:t>Trivy</a:t>
            </a:r>
            <a:r>
              <a:rPr lang="en-IN" dirty="0">
                <a:latin typeface="+mn-lt"/>
              </a:rPr>
              <a:t> → Vulnerabilities</a:t>
            </a:r>
          </a:p>
          <a:p>
            <a:pPr rtl="0">
              <a:buNone/>
            </a:pPr>
            <a:r>
              <a:rPr lang="en-IN" dirty="0" err="1">
                <a:latin typeface="+mn-lt"/>
              </a:rPr>
              <a:t>Checkov</a:t>
            </a:r>
            <a:r>
              <a:rPr lang="en-IN" dirty="0">
                <a:latin typeface="+mn-lt"/>
              </a:rPr>
              <a:t> → </a:t>
            </a:r>
            <a:r>
              <a:rPr lang="en-IN" dirty="0" err="1">
                <a:latin typeface="+mn-lt"/>
              </a:rPr>
              <a:t>IaC</a:t>
            </a: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Prowler → Cloud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IAM → Permissions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2DF67-36F6-8AF3-560B-822B2000AF64}"/>
              </a:ext>
            </a:extLst>
          </p:cNvPr>
          <p:cNvSpPr txBox="1"/>
          <p:nvPr/>
        </p:nvSpPr>
        <p:spPr>
          <a:xfrm>
            <a:off x="757084" y="2971434"/>
            <a:ext cx="96651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gaps addressed by </a:t>
            </a:r>
            <a:r>
              <a:rPr lang="en-IN" b="1" dirty="0" err="1"/>
              <a:t>SecureDev</a:t>
            </a:r>
            <a:r>
              <a:rPr lang="en-IN" b="1" dirty="0"/>
              <a:t> :</a:t>
            </a:r>
          </a:p>
          <a:p>
            <a:pPr>
              <a:buNone/>
            </a:pPr>
            <a:r>
              <a:rPr lang="en-IN" b="1" dirty="0"/>
              <a:t>Gap 1 — Fragmented findings</a:t>
            </a:r>
            <a:endParaRPr lang="en-IN" dirty="0"/>
          </a:p>
          <a:p>
            <a:pPr>
              <a:buNone/>
            </a:pPr>
            <a:r>
              <a:rPr lang="en-IN" dirty="0"/>
              <a:t>Security information is distributed across multiple tools.</a:t>
            </a:r>
          </a:p>
          <a:p>
            <a:pPr>
              <a:buNone/>
            </a:pPr>
            <a:r>
              <a:rPr lang="en-IN" b="1" dirty="0"/>
              <a:t>Gap 2 — Lack of cross-layer context</a:t>
            </a:r>
            <a:endParaRPr lang="en-IN" dirty="0"/>
          </a:p>
          <a:p>
            <a:pPr>
              <a:buNone/>
            </a:pPr>
            <a:r>
              <a:rPr lang="en-IN" dirty="0"/>
              <a:t>A source-code issue may be related to an IAM or cloud-resource issue.</a:t>
            </a:r>
          </a:p>
          <a:p>
            <a:pPr>
              <a:buNone/>
            </a:pPr>
            <a:r>
              <a:rPr lang="en-IN" b="1" dirty="0"/>
              <a:t>Gap 3 — Alert overload</a:t>
            </a:r>
            <a:endParaRPr lang="en-IN" dirty="0"/>
          </a:p>
          <a:p>
            <a:pPr>
              <a:buNone/>
            </a:pPr>
            <a:r>
              <a:rPr lang="en-IN" dirty="0"/>
              <a:t>Multiple findings may represent one larger security problem.</a:t>
            </a:r>
          </a:p>
          <a:p>
            <a:pPr>
              <a:buNone/>
            </a:pPr>
            <a:r>
              <a:rPr lang="en-IN" b="1" dirty="0"/>
              <a:t>Gap 4 — Remediation uncertainty</a:t>
            </a:r>
            <a:endParaRPr lang="en-IN" dirty="0"/>
          </a:p>
          <a:p>
            <a:pPr>
              <a:buNone/>
            </a:pPr>
            <a:r>
              <a:rPr lang="en-IN" dirty="0"/>
              <a:t>Fixing an individual finding does not necessarily remove the complete attack path.</a:t>
            </a:r>
          </a:p>
          <a:p>
            <a:r>
              <a:rPr lang="en-IN" b="1" dirty="0"/>
              <a:t>Gap 5 — Lack of validation</a:t>
            </a:r>
            <a:endParaRPr lang="en-IN" dirty="0"/>
          </a:p>
          <a:p>
            <a:r>
              <a:rPr lang="en-IN" dirty="0"/>
              <a:t>A proposed security fix needs to be verified for both security improvement and application functionality.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DAACF-0C28-2A57-E6AA-EDBAD704919D}"/>
              </a:ext>
            </a:extLst>
          </p:cNvPr>
          <p:cNvSpPr txBox="1"/>
          <p:nvPr/>
        </p:nvSpPr>
        <p:spPr>
          <a:xfrm>
            <a:off x="658762" y="1278303"/>
            <a:ext cx="10245212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Unified Security Analysis:</a:t>
            </a:r>
            <a:r>
              <a:rPr lang="en-IN" sz="2000" dirty="0"/>
              <a:t> Combines findings from source code, containers, </a:t>
            </a:r>
            <a:r>
              <a:rPr lang="en-IN" sz="2000" dirty="0" err="1"/>
              <a:t>IaC</a:t>
            </a:r>
            <a:r>
              <a:rPr lang="en-IN" sz="2000" dirty="0"/>
              <a:t>, CI/CD, IAM, and cloud environments in one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Cross-Layer Correlation:</a:t>
            </a:r>
            <a:r>
              <a:rPr lang="en-IN" sz="2000" dirty="0"/>
              <a:t> Connects individual security findings to identify relationships and potential attack paths.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Context-Aware Risk:</a:t>
            </a:r>
            <a:r>
              <a:rPr lang="en-IN" sz="2000" dirty="0"/>
              <a:t> Prioritizes risks based on severity, asset importance, permissions, and attack-path relationships.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Automated Remediation:</a:t>
            </a:r>
            <a:r>
              <a:rPr lang="en-IN" sz="2000" dirty="0"/>
              <a:t> Provides actionable fixes for identified security issues instead of only reporting vulnerabilities.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Remediation Validation:</a:t>
            </a:r>
            <a:r>
              <a:rPr lang="en-IN" sz="2000" dirty="0"/>
              <a:t> Re-scans and verifies whether the security risk is reduced while ensuring application functionality is maintained.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Key Novelty</a:t>
            </a:r>
          </a:p>
          <a:p>
            <a:r>
              <a:rPr lang="en-IN" sz="2000" b="1" dirty="0" err="1"/>
              <a:t>SecureDev</a:t>
            </a:r>
            <a:r>
              <a:rPr lang="en-IN" sz="2000" b="1" dirty="0"/>
              <a:t> moves from “detecting individual vulnerabilities” to “understanding connected security risks and validating their remediation.”</a:t>
            </a:r>
            <a:endParaRPr lang="en-IN" sz="2000" dirty="0"/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09F8BB-A793-9A20-A0D8-B6DFFC14A0B6}"/>
              </a:ext>
            </a:extLst>
          </p:cNvPr>
          <p:cNvSpPr txBox="1"/>
          <p:nvPr/>
        </p:nvSpPr>
        <p:spPr>
          <a:xfrm>
            <a:off x="813619" y="1184613"/>
            <a:ext cx="1054018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established, freely available open-source tools (Git, Docker, Kubernetes/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Minikube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Trivy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Argo CD, GitHub Actions/Jenkins), keeping the project deployable within an academic timeframe.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lets core layers (Git scanning, Docker scanning, IAM analysis) be built and demoed independently before full integration.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components can be validated on a free-tier AWS/Azure/GCP account, keeping infrastructure cost low.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(Phase-wise)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Requirement analysis and literature survey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Git/GitHub and Docker container security scanning module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Cloud IAM analysis and CI/CD security gates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Attack-path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risk correlation engine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Automated remediation and cloud-native deployment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6: Testing, validation, and final report</a:t>
            </a:r>
          </a:p>
          <a:p>
            <a:pPr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1722-FF9D-452A-E1D6-39CBB297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CFE18A-A17E-81B9-77B1-F24E8E875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83039-4790-B449-6FDC-C5E3DF9F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1AFC3-73B5-011A-997F-55A2DC9F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697A0-D809-F9DE-9BFD-42EBE8CB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373229-C957-7785-A099-24FABB06432F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EA9AF-8324-60D3-014C-4A6AF360DE91}"/>
              </a:ext>
            </a:extLst>
          </p:cNvPr>
          <p:cNvSpPr txBox="1"/>
          <p:nvPr/>
        </p:nvSpPr>
        <p:spPr>
          <a:xfrm>
            <a:off x="813619" y="1184613"/>
            <a:ext cx="10540181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Workflow-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191C21"/>
                </a:solidFill>
                <a:latin typeface="Aptos"/>
              </a:defRPr>
            </a:pPr>
            <a:r>
              <a:rPr lang="en-US" dirty="0"/>
              <a:t>Open the Security overview and show total, critical, high, and open finding counts.</a:t>
            </a:r>
          </a:p>
          <a:p>
            <a:pPr>
              <a:spcAft>
                <a:spcPts val="1400"/>
              </a:spcAft>
              <a:defRPr sz="2000">
                <a:solidFill>
                  <a:srgbClr val="191C21"/>
                </a:solidFill>
                <a:latin typeface="Aptos"/>
              </a:defRPr>
            </a:pPr>
            <a:r>
              <a:rPr lang="en-US" dirty="0"/>
              <a:t>Navigate to Scan findings to review the stored findings.</a:t>
            </a:r>
          </a:p>
          <a:p>
            <a:pPr>
              <a:spcAft>
                <a:spcPts val="1400"/>
              </a:spcAft>
              <a:defRPr sz="2000">
                <a:solidFill>
                  <a:srgbClr val="191C21"/>
                </a:solidFill>
                <a:latin typeface="Aptos"/>
              </a:defRPr>
            </a:pPr>
            <a:r>
              <a:rPr lang="en-US" dirty="0"/>
              <a:t>Search by keyword and combine severity and status filters.</a:t>
            </a:r>
          </a:p>
          <a:p>
            <a:pPr>
              <a:spcAft>
                <a:spcPts val="1400"/>
              </a:spcAft>
              <a:defRPr sz="2000">
                <a:solidFill>
                  <a:srgbClr val="191C21"/>
                </a:solidFill>
                <a:latin typeface="Aptos"/>
              </a:defRPr>
            </a:pPr>
            <a:r>
              <a:rPr lang="en-US" dirty="0"/>
              <a:t>Resolve an open finding, refresh the page, and show the persisted status; reopen it if needed.</a:t>
            </a:r>
          </a:p>
          <a:p>
            <a:pPr>
              <a:spcAft>
                <a:spcPts val="1400"/>
              </a:spcAft>
              <a:defRPr sz="2000">
                <a:solidFill>
                  <a:srgbClr val="191C21"/>
                </a:solidFill>
                <a:latin typeface="Aptos"/>
              </a:defRPr>
            </a:pPr>
            <a:r>
              <a:rPr lang="en-US" dirty="0"/>
              <a:t>Open View remediation to show the rule-based recommended steps.</a:t>
            </a:r>
          </a:p>
          <a:p>
            <a:pPr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3361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3B58-BC68-DC79-F96D-B1FD3553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1F2DD6-1F72-224F-1560-1DCF1544B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3E8D0-9C7A-9371-48A0-66C53138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E7D9B-86F8-FB2B-F375-52022934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148D5-E6C8-A16A-91C1-CED20084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17C056-FDBC-49C0-360B-D22DAF75700F}"/>
              </a:ext>
            </a:extLst>
          </p:cNvPr>
          <p:cNvSpPr/>
          <p:nvPr/>
        </p:nvSpPr>
        <p:spPr>
          <a:xfrm>
            <a:off x="2306601" y="31127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2800" b="1" dirty="0">
                <a:solidFill>
                  <a:schemeClr val="bg2"/>
                </a:solidFill>
              </a:rPr>
            </a:br>
            <a:r>
              <a:rPr lang="en-IN" sz="2800" b="1" dirty="0">
                <a:solidFill>
                  <a:schemeClr val="bg2"/>
                </a:solidFill>
              </a:rPr>
              <a:t>Current Prototype Architecture</a:t>
            </a:r>
          </a:p>
          <a:p>
            <a:pPr algn="ctr"/>
            <a:endParaRPr lang="en-US" sz="2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E4991-8844-D18E-60A8-6FEB956CB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6455"/>
            <a:ext cx="12192000" cy="506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B1DC-BEDB-D9D2-D2C1-93EA3FF1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04092-239F-8F16-1399-554E32B0C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F5E1F-3203-EC0C-2AEC-8BDBD687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A9DEA-9A0B-803A-B1E4-4FB3AA00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CBB0E-C54C-D502-501B-3E7A9837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F46F2C-C586-6727-8439-F375DE5DF6A9}"/>
              </a:ext>
            </a:extLst>
          </p:cNvPr>
          <p:cNvSpPr/>
          <p:nvPr/>
        </p:nvSpPr>
        <p:spPr>
          <a:xfrm>
            <a:off x="2306601" y="311275"/>
            <a:ext cx="6975422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800" b="1" dirty="0">
                <a:solidFill>
                  <a:schemeClr val="bg2"/>
                </a:solidFill>
              </a:rPr>
              <a:t>Project Objectives and Current Scope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5245A-A5FF-8D9F-31B7-EC51426A9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43" y="1440332"/>
            <a:ext cx="11775057" cy="52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F283-33C8-988F-ABDB-E4805954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A44EDB-3214-DB11-38CC-1E83D6FA4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944EAF-3E31-3431-3024-B263857F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5109C-5722-4A02-45D8-233C3DB3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4CAC5-8683-2CFC-98C5-32349791D1E9}"/>
              </a:ext>
            </a:extLst>
          </p:cNvPr>
          <p:cNvSpPr/>
          <p:nvPr/>
        </p:nvSpPr>
        <p:spPr>
          <a:xfrm>
            <a:off x="2306601" y="31127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800" b="1" dirty="0">
                <a:solidFill>
                  <a:schemeClr val="bg2"/>
                </a:solidFill>
              </a:rPr>
              <a:t>Team Structure and Workstreams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30D19-4FFF-A20A-79D6-520A8DA76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23"/>
            <a:ext cx="12192000" cy="5065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65B24A-B671-78D2-5929-F0F9FCA91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7398"/>
            <a:ext cx="12192000" cy="496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6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F18E-B32E-2B81-1EFE-FA329CFB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7F43F9-D76B-96E5-A319-6A8543649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8A99E-45CA-01A5-B73D-6FA1D3B4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44EEC-68EE-17A6-D9F3-0D09CE7A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CE0C17-9195-8B01-BA5A-D26F84C98241}"/>
              </a:ext>
            </a:extLst>
          </p:cNvPr>
          <p:cNvSpPr/>
          <p:nvPr/>
        </p:nvSpPr>
        <p:spPr>
          <a:xfrm>
            <a:off x="2306601" y="31127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800" b="1" dirty="0">
                <a:solidFill>
                  <a:schemeClr val="bg2"/>
                </a:solidFill>
              </a:rPr>
              <a:t>Validation and Current Evidence</a:t>
            </a:r>
          </a:p>
        </p:txBody>
      </p:sp>
      <p:pic>
        <p:nvPicPr>
          <p:cNvPr id="2" name="Content Placeholder 11">
            <a:extLst>
              <a:ext uri="{FF2B5EF4-FFF2-40B4-BE49-F238E27FC236}">
                <a16:creationId xmlns:a16="http://schemas.microsoft.com/office/drawing/2014/main" id="{C58EA835-CA19-3E6B-D06B-84A9B949C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28" y="1302589"/>
            <a:ext cx="10344095" cy="48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6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829</Words>
  <Application>Microsoft Office PowerPoint</Application>
  <PresentationFormat>Widescreen</PresentationFormat>
  <Paragraphs>158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Courier New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rasagna sai</cp:lastModifiedBy>
  <cp:revision>45</cp:revision>
  <dcterms:created xsi:type="dcterms:W3CDTF">2026-08-08T06:33:56Z</dcterms:created>
  <dcterms:modified xsi:type="dcterms:W3CDTF">2026-10-28T03:20:03Z</dcterms:modified>
</cp:coreProperties>
</file>